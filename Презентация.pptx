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2" r:id="rId9"/>
    <p:sldId id="261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258" autoAdjust="0"/>
  </p:normalViewPr>
  <p:slideViewPr>
    <p:cSldViewPr snapToGrid="0">
      <p:cViewPr varScale="1">
        <p:scale>
          <a:sx n="61" d="100"/>
          <a:sy n="61" d="100"/>
        </p:scale>
        <p:origin x="124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&#1082;&#1086;&#1083;&#1080;&#1095;&#1077;&#1089;&#1090;&#1074;&#1086;%20&#1080;&#1075;&#1088;&#1086;&#1074;&#1099;&#1093;%20&#1089;&#1077;&#1089;&#1089;&#1080;&#1081;%20&#1058;&#1047;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&#1040;&#1085;&#1072;&#1083;&#1080;&#1090;&#1080;&#1082;%20&#1076;&#1072;&#1085;&#1085;&#1099;&#1093;\4_&#1054;&#1089;&#1085;&#1086;&#1074;&#1099;%20SQL\&#1050;&#1091;&#1088;&#1089;&#1072;&#1095;\&#1076;&#1080;&#1085;&#1072;&#1084;&#1080;&#1082;&#1091;%20&#1089;&#1088;&#1077;&#1076;&#1085;&#1077;&#1081;%20&#1076;&#1083;&#1080;&#1090;&#1077;&#1083;&#1100;&#1085;&#1086;&#1089;&#1090;&#1080;%20&#1086;&#1076;&#1085;&#1086;&#1081;%20&#1080;&#1075;&#1088;&#1086;&#1074;&#1086;&#1081;%20&#1089;&#1077;&#1089;&#1089;&#1080;&#1080;%20&#1087;&#1086;%20&#1084;&#1077;&#1089;&#1103;&#1094;&#1072;&#1084;%20&#1058;&#1047;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&#1052;&#1072;&#1088;&#1082;&#1077;&#1090;&#1080;&#1085;&#1075;&#1086;&#1074;&#1072;&#1103;%20&#1072;&#1082;&#1094;&#1080;&#1103;%20MAU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&#1040;&#1085;&#1072;&#1083;&#1080;&#1090;&#1080;&#1082;%20&#1076;&#1072;&#1085;&#1085;&#1099;&#1093;\4_&#1054;&#1089;&#1085;&#1086;&#1074;&#1099;%20SQL\&#1050;&#1091;&#1088;&#1089;&#1072;&#1095;\&#1040;&#1085;&#1072;&#1083;&#1080;&#1079;%20&#1076;&#1080;&#1085;&#1072;&#1084;&#1080;&#1082;&#1080;%20&#1074;&#1099;&#1088;&#1091;&#1095;&#1082;&#1080;%20&#1058;&#1047;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&#1040;&#1085;&#1072;&#1083;&#1080;&#1090;&#1080;&#1082;%20&#1076;&#1072;&#1085;&#1085;&#1099;&#1093;\4_&#1054;&#1089;&#1085;&#1086;&#1074;&#1099;%20SQL\&#1050;&#1091;&#1088;&#1089;&#1072;&#1095;\&#1076;&#1080;&#1085;&#1072;&#1084;&#1080;&#1082;&#1091;%20&#1089;&#1088;&#1077;&#1076;&#1085;&#1077;&#1075;&#1086;%20&#1082;&#1086;&#1083;&#1080;&#1095;&#1077;&#1089;&#1090;&#1074;&#1072;%20&#1087;&#1088;&#1080;&#1086;&#1073;&#1088;&#1077;&#1090;&#1072;&#1077;&#1084;&#1099;&#1093;%20&#1082;&#1088;&#1080;&#1089;&#1090;&#1072;&#1083;&#1083;&#1086;&#1074;%20&#1058;&#1047;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&#1040;&#1085;&#1072;&#1083;&#1080;&#1090;&#1080;&#1082;%20&#1076;&#1072;&#1085;&#1085;&#1099;&#1093;\4_&#1054;&#1089;&#1085;&#1086;&#1074;&#1099;%20SQL\&#1050;&#1091;&#1088;&#1089;&#1072;&#1095;\&#1040;&#1085;&#1072;&#1083;&#1080;&#1079;%20&#1089;&#1088;&#1077;&#1076;&#1085;&#1080;&#1093;%20&#1087;&#1083;&#1072;&#1090;&#1077;&#1078;&#1077;&#1081;%20&#1087;&#1086;%20&#1082;&#1086;&#1075;&#1086;&#1088;&#1090;&#1072;&#1084;%20&#1058;&#1047;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6-10-14T09_14_34.867202151Z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игровых сессий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 игровых сессий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#,##0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18-4EDA-99A3-B7B4B96596C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00456320"/>
        <c:axId val="1700447680"/>
      </c:barChart>
      <c:dateAx>
        <c:axId val="17004563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00447680"/>
        <c:crosses val="autoZero"/>
        <c:auto val="1"/>
        <c:lblOffset val="100"/>
        <c:baseTimeUnit val="months"/>
      </c:dateAx>
      <c:valAx>
        <c:axId val="1700447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Игровые</a:t>
                </a:r>
                <a:r>
                  <a:rPr lang="ru-RU" baseline="0" dirty="0"/>
                  <a:t> сессии, </a:t>
                </a:r>
                <a:r>
                  <a:rPr lang="ru-RU" baseline="0" dirty="0" err="1"/>
                  <a:t>шт</a:t>
                </a:r>
                <a:endParaRPr lang="ru-RU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00456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длина сессий по месяцам</a:t>
            </a:r>
            <a:endParaRPr lang="en-US" sz="1400" dirty="0">
              <a:solidFill>
                <a:srgbClr val="0F11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avg_len_hour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#\ ##0.##</c:formatCode>
                <c:ptCount val="10"/>
                <c:pt idx="0">
                  <c:v>2.2188248095756258</c:v>
                </c:pt>
                <c:pt idx="1">
                  <c:v>2.3230326108181996</c:v>
                </c:pt>
                <c:pt idx="2">
                  <c:v>2.2760932944606416</c:v>
                </c:pt>
                <c:pt idx="3">
                  <c:v>2.3715035931453841</c:v>
                </c:pt>
                <c:pt idx="4">
                  <c:v>2.5163474328278799</c:v>
                </c:pt>
                <c:pt idx="5">
                  <c:v>2.731181917211329</c:v>
                </c:pt>
                <c:pt idx="6">
                  <c:v>2.3998779342723005</c:v>
                </c:pt>
                <c:pt idx="7">
                  <c:v>2.2895430218196791</c:v>
                </c:pt>
                <c:pt idx="8">
                  <c:v>5.5359777492511766</c:v>
                </c:pt>
                <c:pt idx="9">
                  <c:v>2.3343766060232296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94-46DE-A04B-A18B912731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4806991"/>
        <c:axId val="124811791"/>
      </c:barChart>
      <c:dateAx>
        <c:axId val="1248069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4811791"/>
        <c:crosses val="autoZero"/>
        <c:auto val="1"/>
        <c:lblOffset val="100"/>
        <c:baseTimeUnit val="months"/>
      </c:dateAx>
      <c:valAx>
        <c:axId val="12481179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 dirty="0">
                    <a:solidFill>
                      <a:srgbClr val="0F111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длина сессий, час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.##" sourceLinked="1"/>
        <c:majorTickMark val="out"/>
        <c:minorTickMark val="none"/>
        <c:tickLblPos val="nextTo"/>
        <c:crossAx val="124806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MAU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#,##0</c:formatCode>
                <c:ptCount val="10"/>
                <c:pt idx="0">
                  <c:v>193</c:v>
                </c:pt>
                <c:pt idx="1">
                  <c:v>366</c:v>
                </c:pt>
                <c:pt idx="2">
                  <c:v>378</c:v>
                </c:pt>
                <c:pt idx="3">
                  <c:v>393</c:v>
                </c:pt>
                <c:pt idx="4">
                  <c:v>426</c:v>
                </c:pt>
                <c:pt idx="5">
                  <c:v>390</c:v>
                </c:pt>
                <c:pt idx="6">
                  <c:v>536</c:v>
                </c:pt>
                <c:pt idx="7">
                  <c:v>696</c:v>
                </c:pt>
                <c:pt idx="8">
                  <c:v>1544</c:v>
                </c:pt>
                <c:pt idx="9">
                  <c:v>1027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01-4BB9-8B71-3A582C27D5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10557455"/>
        <c:axId val="1610560815"/>
      </c:barChart>
      <c:dateAx>
        <c:axId val="1610557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0560815"/>
        <c:crosses val="autoZero"/>
        <c:auto val="1"/>
        <c:lblOffset val="100"/>
        <c:baseTimeUnit val="months"/>
      </c:dateAx>
      <c:valAx>
        <c:axId val="1610560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baseline="0" dirty="0">
                    <a:effectLst/>
                  </a:rPr>
                  <a:t>количество уникальных пользователей, </a:t>
                </a:r>
                <a:r>
                  <a:rPr lang="ru-RU" sz="1000" b="0" i="0" u="none" strike="noStrike" baseline="0" dirty="0" err="1">
                    <a:effectLst/>
                  </a:rPr>
                  <a:t>шт</a:t>
                </a:r>
                <a:r>
                  <a:rPr lang="ru-RU" sz="1000" b="0" i="0" u="none" strike="noStrike" baseline="0" dirty="0">
                    <a:effectLst/>
                  </a:rPr>
                  <a:t> </a:t>
                </a:r>
                <a:endParaRPr lang="ru-RU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0557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[Анализ динамики выручки ТЗ2.xlsx]Результат запроса!Сводная таблица7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Динамику выручки по времени </a:t>
            </a:r>
          </a:p>
          <a:p>
            <a:pPr>
              <a:defRPr sz="2400"/>
            </a:pPr>
            <a:r>
              <a:rPr lang="ru-RU" sz="2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по типам продуктов</a:t>
            </a:r>
            <a:endParaRPr lang="ru-RU" sz="2400" dirty="0"/>
          </a:p>
        </c:rich>
      </c:tx>
      <c:layout>
        <c:manualLayout>
          <c:xMode val="edge"/>
          <c:yMode val="edge"/>
          <c:x val="0.1744514746219985"/>
          <c:y val="1.64298021456323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запроса'!$F$3:$F$4</c:f>
              <c:strCache>
                <c:ptCount val="1"/>
                <c:pt idx="0">
                  <c:v>Ammo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запроса'!$E$5:$E$17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запроса'!$F$5:$F$17</c:f>
              <c:numCache>
                <c:formatCode>General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F8-452A-9224-031779A674D6}"/>
            </c:ext>
          </c:extLst>
        </c:ser>
        <c:ser>
          <c:idx val="1"/>
          <c:order val="1"/>
          <c:tx>
            <c:strRef>
              <c:f>'Результат запроса'!$G$3:$G$4</c:f>
              <c:strCache>
                <c:ptCount val="1"/>
                <c:pt idx="0">
                  <c:v>Currency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запроса'!$E$5:$E$17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запроса'!$G$5:$G$17</c:f>
              <c:numCache>
                <c:formatCode>General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F8-452A-9224-031779A674D6}"/>
            </c:ext>
          </c:extLst>
        </c:ser>
        <c:ser>
          <c:idx val="2"/>
          <c:order val="2"/>
          <c:tx>
            <c:strRef>
              <c:f>'Результат запроса'!$H$3:$H$4</c:f>
              <c:strCache>
                <c:ptCount val="1"/>
                <c:pt idx="0">
                  <c:v>Materials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запроса'!$E$5:$E$17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запроса'!$H$5:$H$17</c:f>
              <c:numCache>
                <c:formatCode>General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F8-452A-9224-031779A674D6}"/>
            </c:ext>
          </c:extLst>
        </c:ser>
        <c:ser>
          <c:idx val="3"/>
          <c:order val="3"/>
          <c:tx>
            <c:strRef>
              <c:f>'Результат запроса'!$I$3:$I$4</c:f>
              <c:strCache>
                <c:ptCount val="1"/>
                <c:pt idx="0">
                  <c:v>Transport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запроса'!$E$5:$E$17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запроса'!$I$5:$I$17</c:f>
              <c:numCache>
                <c:formatCode>General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F8-452A-9224-031779A674D6}"/>
            </c:ext>
          </c:extLst>
        </c:ser>
        <c:ser>
          <c:idx val="4"/>
          <c:order val="4"/>
          <c:tx>
            <c:strRef>
              <c:f>'Результат запроса'!$J$3:$J$4</c:f>
              <c:strCache>
                <c:ptCount val="1"/>
                <c:pt idx="0">
                  <c:v>Weapon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запроса'!$E$5:$E$17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запроса'!$J$5:$J$17</c:f>
              <c:numCache>
                <c:formatCode>General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9F8-452A-9224-031779A67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1026144"/>
        <c:axId val="1141025184"/>
      </c:lineChart>
      <c:catAx>
        <c:axId val="11410261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ru-RU" sz="1400" b="0" i="0" u="none" strike="noStrike" kern="1200" baseline="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0" i="0" u="none" strike="noStrike" kern="1200" baseline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ru-RU" sz="1400" b="0" i="0" u="none" strike="noStrike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141025184"/>
        <c:crosses val="autoZero"/>
        <c:auto val="1"/>
        <c:lblAlgn val="ctr"/>
        <c:lblOffset val="100"/>
        <c:noMultiLvlLbl val="0"/>
      </c:catAx>
      <c:valAx>
        <c:axId val="1141025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400" b="0" i="0" u="none" strike="noStrike" kern="1200" baseline="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0" i="0" u="none" strike="noStrike" kern="1200" baseline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Выручка, руб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400" b="0" i="0" u="none" strike="noStrike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14102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#,##0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1D-481B-B930-51451291F1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75651695"/>
        <c:axId val="1375657455"/>
      </c:lineChart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#\ ##0.##</c:formatCode>
                <c:ptCount val="10"/>
                <c:pt idx="0" formatCode="#,##0">
                  <c:v>29</c:v>
                </c:pt>
                <c:pt idx="1">
                  <c:v>31.5625</c:v>
                </c:pt>
                <c:pt idx="2">
                  <c:v>32.173913043478258</c:v>
                </c:pt>
                <c:pt idx="3" formatCode="#,##0">
                  <c:v>28</c:v>
                </c:pt>
                <c:pt idx="4">
                  <c:v>29.6</c:v>
                </c:pt>
                <c:pt idx="5" formatCode="#,##0">
                  <c:v>30</c:v>
                </c:pt>
                <c:pt idx="6">
                  <c:v>19.117647058823529</c:v>
                </c:pt>
                <c:pt idx="7">
                  <c:v>17.352941176470587</c:v>
                </c:pt>
                <c:pt idx="8">
                  <c:v>22.051282051282051</c:v>
                </c:pt>
                <c:pt idx="9">
                  <c:v>23.076923076923077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1D-481B-B930-51451291F1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75660335"/>
        <c:axId val="1375659855"/>
      </c:lineChart>
      <c:dateAx>
        <c:axId val="13756516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ru-RU" sz="1400" b="0" i="0" u="none" strike="noStrike" kern="1200" baseline="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0" i="0" u="none" strike="noStrike" kern="1200" baseline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ru-RU" sz="1400" b="0" i="0" u="none" strike="noStrike" kern="1200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375657455"/>
        <c:crosses val="autoZero"/>
        <c:auto val="1"/>
        <c:lblOffset val="100"/>
        <c:baseTimeUnit val="months"/>
      </c:dateAx>
      <c:valAx>
        <c:axId val="1375657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ru-RU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Прибыль, руб.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ru-RU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375651695"/>
        <c:crosses val="autoZero"/>
        <c:crossBetween val="between"/>
      </c:valAx>
      <c:valAx>
        <c:axId val="137565985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ru-RU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Количество, 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ru-RU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375660335"/>
        <c:crosses val="max"/>
        <c:crossBetween val="between"/>
      </c:valAx>
      <c:dateAx>
        <c:axId val="137566033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75659855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2400" b="0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Когорты по средней выручке на пользователя за месяц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2400" b="0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avg_rev_per_month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#\ ##0.##</c:formatCode>
                <c:ptCount val="9"/>
                <c:pt idx="0">
                  <c:v>118.54647887323944</c:v>
                </c:pt>
                <c:pt idx="1">
                  <c:v>95.038011695906434</c:v>
                </c:pt>
                <c:pt idx="2">
                  <c:v>150.36933797909407</c:v>
                </c:pt>
                <c:pt idx="3">
                  <c:v>154.87356321839081</c:v>
                </c:pt>
                <c:pt idx="4">
                  <c:v>209.65974025974026</c:v>
                </c:pt>
                <c:pt idx="5">
                  <c:v>248.06325301204819</c:v>
                </c:pt>
                <c:pt idx="6">
                  <c:v>340.4199475065617</c:v>
                </c:pt>
                <c:pt idx="7">
                  <c:v>577.60887096774195</c:v>
                </c:pt>
                <c:pt idx="8">
                  <c:v>1087.4320388349515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96-41E0-955B-DFAC61C627A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4009583"/>
        <c:axId val="214010063"/>
      </c:lineChart>
      <c:dateAx>
        <c:axId val="2140095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ru-RU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ru-RU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14010063"/>
        <c:crosses val="autoZero"/>
        <c:auto val="1"/>
        <c:lblOffset val="100"/>
        <c:baseTimeUnit val="months"/>
      </c:dateAx>
      <c:valAx>
        <c:axId val="214010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ru-RU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Средняя выручка, руб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ru-RU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#\ ##0.#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1400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b="0" i="0" u="none" strike="noStrike" kern="120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Лояльные пользователи, </a:t>
            </a:r>
            <a:r>
              <a:rPr lang="ru-RU" sz="1800" b="0" i="0" u="none" strike="noStrike" kern="1200" baseline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пригласивщие</a:t>
            </a:r>
            <a:r>
              <a:rPr lang="ru-RU" sz="1800" b="0" i="0" u="none" strike="noStrike" kern="120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3 друзей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6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'[query_result_2026-10-14T09_14_34.867202151Z.xlsx]Результат запроса'!$B$1</c:f>
              <c:strCache>
                <c:ptCount val="1"/>
                <c:pt idx="0">
                  <c:v>Пользователи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2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'[query_result_2026-10-14T09_14_34.867202151Z.xlsx]Результат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'[query_result_2026-10-14T09_14_34.867202151Z.xlsx]Результат запроса'!$B$2:$B$11</c:f>
              <c:numCache>
                <c:formatCode>#,##0</c:formatCode>
                <c:ptCount val="10"/>
                <c:pt idx="0">
                  <c:v>77</c:v>
                </c:pt>
                <c:pt idx="1">
                  <c:v>148</c:v>
                </c:pt>
                <c:pt idx="2">
                  <c:v>142</c:v>
                </c:pt>
                <c:pt idx="3">
                  <c:v>133</c:v>
                </c:pt>
                <c:pt idx="4">
                  <c:v>158</c:v>
                </c:pt>
                <c:pt idx="5">
                  <c:v>154</c:v>
                </c:pt>
                <c:pt idx="6">
                  <c:v>213</c:v>
                </c:pt>
                <c:pt idx="7">
                  <c:v>250</c:v>
                </c:pt>
                <c:pt idx="8">
                  <c:v>532</c:v>
                </c:pt>
                <c:pt idx="9">
                  <c:v>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27-41E2-B187-D6C6F6A37A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89947904"/>
        <c:axId val="1289945984"/>
      </c:barChart>
      <c:dateAx>
        <c:axId val="12899479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ru-RU" sz="14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ru-RU" sz="14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289945984"/>
        <c:crosses val="autoZero"/>
        <c:auto val="1"/>
        <c:lblOffset val="100"/>
        <c:baseTimeUnit val="months"/>
      </c:dateAx>
      <c:valAx>
        <c:axId val="128994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Лояльные пользователи, шт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289947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91D13-D8FF-4FD9-A7AC-350C9233CD1A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B7A3F-6A43-4E60-B462-9A113D12D9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91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исследования мы рассмотрим анализ ключевых показателей игры </a:t>
            </a:r>
            <a:r>
              <a:rPr lang="ru-RU" sz="120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Zombie</a:t>
            </a:r>
            <a:r>
              <a:rPr lang="ru-RU" sz="12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Revolution.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941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начала посмотрим на общую картину игры.</a:t>
            </a:r>
          </a:p>
          <a:p>
            <a:r>
              <a:rPr lang="ru-RU" dirty="0"/>
              <a:t>За рассматриваемый период в игре участвовали чуть больше трех тысяч игроков. При этом количество игровых сессий постепенно росло и достигло максимума в марте 2023 года — там мы наблюдаем больше 5 000 сессий. </a:t>
            </a:r>
          </a:p>
          <a:p>
            <a:r>
              <a:rPr lang="ru-RU" dirty="0"/>
              <a:t>В апреле показатель немного снизился. Средняя продолжительность сессии в большинстве месяцев составляла около 2–3 часов. Однако в марте мы видим резкий скачок  больше чем пять с половиной часа.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322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800" i="1" kern="0" spc="-5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время очисткой данных, было замечено что у некоторых сессий в таблице </a:t>
            </a:r>
            <a:r>
              <a:rPr lang="ru-RU" sz="1800" i="1" kern="0" spc="-5" dirty="0" err="1">
                <a:solidFill>
                  <a:srgbClr val="0F111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game_sessions</a:t>
            </a:r>
            <a:r>
              <a:rPr lang="ru-RU" sz="1800" i="1" kern="0" spc="-5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отсутствует время окончания сессии. Необходимо узнать масштаб проблемы.</a:t>
            </a:r>
            <a:endParaRPr lang="ru-RU" sz="1200" b="0" i="0" dirty="0">
              <a:solidFill>
                <a:srgbClr val="0F11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200" b="0" i="0" dirty="0">
              <a:solidFill>
                <a:srgbClr val="0F11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Мы проанализировали 27 тысяч игровых сессий. Из них больше трех тысяч сессии, или около 12%, не имеют отметки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-apple-system-body"/>
              </a:rPr>
              <a:t>end_session</a:t>
            </a:r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.</a:t>
            </a:r>
          </a:p>
          <a:p>
            <a:pPr algn="l"/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Основная проблема связана с ОП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-apple-system-body"/>
              </a:rPr>
              <a:t>iOS</a:t>
            </a:r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: незавершёнными являются около 19% сессий этой платформы, тогда как на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-apple-system-body"/>
              </a:rPr>
              <a:t>Android</a:t>
            </a:r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 — меньше 1 процента</a:t>
            </a:r>
          </a:p>
          <a:p>
            <a:pPr algn="l"/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Также важно различать долю проблем внутри платформы и распределение всех проблемных записей между платформами. </a:t>
            </a:r>
          </a:p>
          <a:p>
            <a:pPr algn="l"/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По результатам запроса, 97,61% проблемных записей приходится на также 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-apple-system-body"/>
              </a:rPr>
              <a:t>iOS</a:t>
            </a:r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 и чуть больше двух процентов  — на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-apple-system-body"/>
              </a:rPr>
              <a:t>Android</a:t>
            </a:r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.</a:t>
            </a:r>
          </a:p>
          <a:p>
            <a:pPr algn="l"/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Таким образом, в первую очередь необходимо исследовать завершение сессий на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-apple-system-body"/>
              </a:rPr>
              <a:t>iOS</a:t>
            </a:r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: проверить обработку завершения игры, переходы приложения в фоновый режим и отправку событий аналитики. При этом отсутствие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-apple-system-body"/>
              </a:rPr>
              <a:t>end_session</a:t>
            </a:r>
            <a:r>
              <a:rPr lang="ru-RU" b="0" i="0" dirty="0">
                <a:solidFill>
                  <a:srgbClr val="FFFFFF"/>
                </a:solidFill>
                <a:effectLst/>
                <a:latin typeface="-apple-system-body"/>
              </a:rPr>
              <a:t> не обязательно означает сбой игры — событие могло не отправиться или не сохраниться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312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Далее мы рассматривали маркетинговую акцию в марте 2023 года.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Она заключалась в том, что </a:t>
            </a:r>
            <a: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чем чаще игрок заходил в игру, тем больше получал бесплатных кристаллов. Акция шла </a:t>
            </a:r>
            <a:r>
              <a:rPr lang="ru-RU" sz="1200" b="1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первые 3 недели марта.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dirty="0">
              <a:solidFill>
                <a:srgbClr val="0F11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Акция сработала как мощный триггер роста.</a:t>
            </a:r>
            <a:r>
              <a:rPr lang="ru-RU" dirty="0"/>
              <a:t> Механика, поощряющая частоту заходов, доказала свою эффективность для резкого увеличения охвата (MAU). В марте был преодолен естественный потолок роста, и база увеличилась более чем в два раза.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Поведение пользователей изменилось локально.</a:t>
            </a:r>
            <a:r>
              <a:rPr lang="ru-RU" dirty="0"/>
              <a:t> В период действия акции (первые три недели марта) частота заходов и удержание внутри месяца резко выросли. Однако этот рост не успел сформировать устойчивую долгосрочную привычку у всей массы привлеченной аудитории.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Эффект является краткосрочным с сохранением долгосрочного прироста базы.</a:t>
            </a:r>
            <a:r>
              <a:rPr lang="ru-RU" dirty="0"/>
              <a:t> Наблюдается классический сценарий промо-акции на удержание: резкий пик активности во время и сразу после мероприятия с последующей нормализацией в апреле. Откат на 33,5% закономерен — как только внешний стимул (кристаллы за частоту) исчез, мотивация части аудитории пропала.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Чистый результат акции — расширение ядра.</a:t>
            </a:r>
            <a:r>
              <a:rPr lang="ru-RU" dirty="0"/>
              <a:t> Несмотря на откат, проект зафиксировал новую, значительно более высокую базу. Почти половина привлеченной в марте аудитории (510 пользователей из 848) осталась в игре в апреле. Для курсовой работы это главный вывод: акция не просто создала временный всплеск, а привела качественных пользователей, которые сформировали новый, более высокий базовый уровень MAU.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867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Посмотрим на динамику выручки по времени и по типам продуктов.</a:t>
            </a:r>
          </a:p>
          <a:p>
            <a:r>
              <a:rPr lang="ru-RU" dirty="0"/>
              <a:t>Абсолютный лидер по выручке — 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Валюта</a:t>
            </a:r>
            <a:r>
              <a:rPr lang="ru-RU" dirty="0"/>
              <a:t>, а минимальный вклад вносит 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Оружие</a:t>
            </a:r>
            <a:r>
              <a:rPr lang="ru-RU" dirty="0"/>
              <a:t>. В 2022 году выручка была распределена более равномерно, но в 2023 году зависимость от валютной категории усилилась.</a:t>
            </a:r>
          </a:p>
          <a:p>
            <a:r>
              <a:rPr lang="ru-RU" b="1" dirty="0"/>
              <a:t>Общая выручка выросла на 34,4%</a:t>
            </a:r>
            <a:r>
              <a:rPr lang="ru-RU" dirty="0"/>
              <a:t> — с 421 тыс. в 2022 году до 565 тыс. в 2023 году. Однако рост был нестабильным: в марте 2023 года произошёл резкий скачок, почти вдвое выше январского и февральского уровней. Основным драйвером стала категория 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Валюта</a:t>
            </a:r>
            <a:r>
              <a:rPr lang="ru-RU" dirty="0"/>
              <a:t>, после чего в апреле выручка упала до 95 тыс.</a:t>
            </a:r>
          </a:p>
          <a:p>
            <a:r>
              <a:rPr lang="ru-RU" dirty="0"/>
              <a:t>При этом 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Материалы</a:t>
            </a:r>
            <a:r>
              <a:rPr lang="ru-RU" dirty="0"/>
              <a:t> демонстрирует более плавный рост, а 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Боеприпасы</a:t>
            </a:r>
            <a:r>
              <a:rPr lang="ru-RU" dirty="0"/>
              <a:t> — положительную динамику в большинстве месяцев. Транспорт и 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Оружие</a:t>
            </a:r>
            <a:r>
              <a:rPr lang="ru-RU" dirty="0"/>
              <a:t> остаются на низком уровне.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131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F1119"/>
                </a:solidFill>
                <a:effectLst/>
                <a:latin typeface="StratosSkyeng"/>
              </a:rPr>
              <a:t>По графику мы делаем следующие выводы:</a:t>
            </a:r>
          </a:p>
          <a:p>
            <a:pPr algn="l"/>
            <a:endParaRPr lang="ru-RU" b="0" i="0" dirty="0">
              <a:solidFill>
                <a:srgbClr val="0F1119"/>
              </a:solidFill>
              <a:effectLst/>
              <a:latin typeface="StratosSkyeng"/>
            </a:endParaRPr>
          </a:p>
          <a:p>
            <a:pPr algn="l"/>
            <a:r>
              <a:rPr lang="ru-RU" b="1" i="0" dirty="0">
                <a:solidFill>
                  <a:srgbClr val="0F1119"/>
                </a:solidFill>
                <a:effectLst/>
                <a:latin typeface="StratosSkyeng"/>
              </a:rPr>
              <a:t>Падение количества кристаллов:</a:t>
            </a:r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 С начала 2023 года наблюдается значительное падение в количестве кристаллов на одну покупку. Это может свидетельствовать о том, что покупатели стали приобретать меньше кристаллов за одну транзакцию.</a:t>
            </a:r>
          </a:p>
          <a:p>
            <a:pPr algn="l"/>
            <a:endParaRPr lang="ru-RU" b="0" i="0" dirty="0">
              <a:solidFill>
                <a:srgbClr val="0F1119"/>
              </a:solidFill>
              <a:effectLst/>
              <a:latin typeface="StratosSkyeng"/>
            </a:endParaRPr>
          </a:p>
          <a:p>
            <a:pPr algn="l"/>
            <a:r>
              <a:rPr lang="ru-RU" b="1" i="0" dirty="0">
                <a:solidFill>
                  <a:srgbClr val="0F1119"/>
                </a:solidFill>
                <a:effectLst/>
                <a:latin typeface="StratosSkyeng"/>
              </a:rPr>
              <a:t>Рост выручки:</a:t>
            </a:r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 Несмотря на падение количества кристаллов, выручка демонстрирует рост, особенно в марте 2023 года. Это может означать, что повышение цены компенсировало уменьшение объёма покупок.</a:t>
            </a:r>
          </a:p>
          <a:p>
            <a:pPr algn="l"/>
            <a:endParaRPr lang="ru-RU" b="0" i="0" dirty="0">
              <a:solidFill>
                <a:srgbClr val="0F1119"/>
              </a:solidFill>
              <a:effectLst/>
              <a:latin typeface="StratosSkyeng"/>
            </a:endParaRPr>
          </a:p>
          <a:p>
            <a:pPr algn="l"/>
            <a:r>
              <a:rPr lang="ru-RU" b="1" i="0" dirty="0">
                <a:solidFill>
                  <a:srgbClr val="0F1119"/>
                </a:solidFill>
                <a:effectLst/>
                <a:latin typeface="StratosSkyeng"/>
              </a:rPr>
              <a:t>Пиковое значение:</a:t>
            </a:r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 В марте 2023 года выручка достигла своего пика, а затем немного снизилась в апреле. Это может быть связано с временным увеличением спроса или успешной маркетинговой кампанией.</a:t>
            </a:r>
          </a:p>
          <a:p>
            <a:pPr algn="l"/>
            <a:r>
              <a:rPr lang="ru-RU" b="1" i="0" dirty="0">
                <a:solidFill>
                  <a:srgbClr val="0F1119"/>
                </a:solidFill>
                <a:effectLst/>
                <a:latin typeface="StratosSkyeng"/>
              </a:rPr>
              <a:t>Стабильность после пика:</a:t>
            </a:r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 После пика в марте, выручка остаётся на более высоком уровне по сравнению с предыдущими месяцами, несмотря на снижение количества кристаллов на покупку.</a:t>
            </a:r>
          </a:p>
          <a:p>
            <a:pPr algn="l"/>
            <a:r>
              <a:rPr lang="ru-RU" b="1" i="0" dirty="0">
                <a:solidFill>
                  <a:srgbClr val="0F1119"/>
                </a:solidFill>
                <a:effectLst/>
                <a:latin typeface="StratosSkyeng"/>
              </a:rPr>
              <a:t>Заключение:</a:t>
            </a:r>
          </a:p>
          <a:p>
            <a:pPr algn="l"/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Повышение цены, вероятно, оказалось выгодным, так как, несмотря на уменьшение количества кристаллов на покупку, общая выручка продолжает расти. Это может свидетельствовать о том, что клиенты готовы платить больше за единицу товара. Однако стоит учитывать, что такие изменения могут быть краткосрочными, и необходимо постоянно анализировать рынок и поведение клиентов.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13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F1119"/>
                </a:solidFill>
                <a:effectLst/>
                <a:latin typeface="StratosSkyeng"/>
              </a:rPr>
              <a:t>Анализ когорты по средней месячной выручке</a:t>
            </a:r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 показывает значительный рост, особенно начиная с конца 2022 года. Это указывает на улучшение активности клиентов или увеличение их расходов в недавний период.</a:t>
            </a:r>
          </a:p>
          <a:p>
            <a:pPr algn="l"/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• Поскольку средняя месячная выручка на клиента растёт, возможно, маркетинговые усилия или изменения в продукте положительно сказываются на поведении клиентов.</a:t>
            </a:r>
          </a:p>
          <a:p>
            <a:pPr algn="l"/>
            <a:r>
              <a:rPr lang="ru-RU" b="0" i="0" dirty="0">
                <a:solidFill>
                  <a:srgbClr val="0F1119"/>
                </a:solidFill>
                <a:effectLst/>
                <a:latin typeface="StratosSkyeng"/>
              </a:rPr>
              <a:t>Возможно, стоит сосредоточить маркетинговые усилия на определённых когортах, которые показывают более значительный рост в месячной выручке.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238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Проанализировали и </a:t>
            </a:r>
            <a:r>
              <a:rPr lang="ru-RU" b="1" dirty="0" err="1"/>
              <a:t>вирусность</a:t>
            </a:r>
            <a:r>
              <a:rPr lang="ru-RU" b="1" dirty="0"/>
              <a:t> игры. </a:t>
            </a:r>
          </a:p>
          <a:p>
            <a:r>
              <a:rPr lang="ru-RU" b="1" dirty="0"/>
              <a:t>K-</a:t>
            </a:r>
            <a:r>
              <a:rPr lang="ru-RU" b="1" dirty="0" err="1"/>
              <a:t>factor</a:t>
            </a:r>
            <a:r>
              <a:rPr lang="ru-RU" b="1" dirty="0"/>
              <a:t> (коэффициент </a:t>
            </a:r>
            <a:r>
              <a:rPr lang="ru-RU" b="1" dirty="0" err="1"/>
              <a:t>виральности</a:t>
            </a:r>
            <a:r>
              <a:rPr lang="ru-RU" b="1" dirty="0"/>
              <a:t>)</a:t>
            </a:r>
            <a:endParaRPr lang="ru-RU" dirty="0"/>
          </a:p>
          <a:p>
            <a:r>
              <a:rPr lang="ru-RU" b="1" dirty="0"/>
              <a:t>Простыми словами:</a:t>
            </a:r>
            <a:r>
              <a:rPr lang="ru-RU" dirty="0"/>
              <a:t> Это показатель «сарафанного радио» в продукте. Он говорит о том, сколько новых пользователей приведет один текущий игрок. Если K &gt; 1, аудитория растет сама по себе. Если K &lt; 1, </a:t>
            </a:r>
            <a:r>
              <a:rPr lang="ru-RU" dirty="0" err="1"/>
              <a:t>виральность</a:t>
            </a:r>
            <a:r>
              <a:rPr lang="ru-RU" dirty="0"/>
              <a:t> работает слабо и требует поддержки рекламой.</a:t>
            </a:r>
          </a:p>
          <a:p>
            <a:pPr marL="0" indent="0">
              <a:buNone/>
            </a:pPr>
            <a:r>
              <a:rPr lang="ru-RU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нашем проекте K-</a:t>
            </a:r>
            <a:r>
              <a:rPr lang="ru-RU" sz="12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lang="ru-RU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0,92</a:t>
            </a:r>
          </a:p>
          <a:p>
            <a:pPr marL="0" indent="0">
              <a:buNone/>
            </a:pP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Виральный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рост есть, но он не обеспечивает самоподдерживающегося притока (K &lt; 1). Прогноз будущей когорты —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314,89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пользователей. Это означает, что каждая новая привлеченная группа со временем (за счет приглашений) превратится в 315 человек.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Рекомендация:</a:t>
            </a:r>
            <a:r>
              <a:rPr lang="ru-RU" dirty="0"/>
              <a:t> платный маркетинг необходим для «поджига» роста, так как одной </a:t>
            </a:r>
            <a:r>
              <a:rPr lang="ru-RU" dirty="0" err="1"/>
              <a:t>виральности</a:t>
            </a:r>
            <a:r>
              <a:rPr lang="ru-RU" dirty="0"/>
              <a:t> недостаточно для масштабирования. При этом механика приглашений работает эффективно и приносит почти +30% аудитории к каждому вложенному в привлечение рублю — её следует сохранять и поощрять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890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Проверка гипотезы о новом канале привлечения.</a:t>
            </a:r>
          </a:p>
          <a:p>
            <a:r>
              <a:rPr lang="ru-RU" sz="12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ноябре и декабре 2022 года была опробована альтернативная стратегия привлечения клиентов</a:t>
            </a:r>
            <a:endParaRPr lang="ru-RU" dirty="0"/>
          </a:p>
          <a:p>
            <a:r>
              <a:rPr lang="ru-RU" b="1" dirty="0"/>
              <a:t>Результат сравнения: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Игроки, привлеченные в ноябре–декабре 2022 года: </a:t>
            </a:r>
            <a:r>
              <a:rPr lang="ru-RU" b="1" dirty="0"/>
              <a:t>3 часа 37 минут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Игроки из остальных когорт: </a:t>
            </a:r>
            <a:r>
              <a:rPr lang="ru-RU" b="1" dirty="0"/>
              <a:t>2 часа 57 минут</a:t>
            </a:r>
            <a:r>
              <a:rPr lang="ru-RU" dirty="0"/>
              <a:t>.</a:t>
            </a:r>
          </a:p>
          <a:p>
            <a:r>
              <a:rPr lang="ru-RU" dirty="0"/>
              <a:t>Разница составляет </a:t>
            </a:r>
            <a:r>
              <a:rPr lang="ru-RU" b="1" dirty="0"/>
              <a:t>40 минут</a:t>
            </a:r>
            <a:r>
              <a:rPr lang="ru-RU" dirty="0"/>
              <a:t> (около +22,5%) в пользу новой группы.</a:t>
            </a:r>
          </a:p>
          <a:p>
            <a:r>
              <a:rPr lang="ru-RU" b="1" dirty="0"/>
              <a:t>Подтверждается ли гипотеза?</a:t>
            </a:r>
            <a:endParaRPr lang="ru-RU" dirty="0"/>
          </a:p>
          <a:p>
            <a:r>
              <a:rPr lang="ru-RU" b="1" dirty="0"/>
              <a:t>Да, гипотеза подтверждается.</a:t>
            </a:r>
            <a:r>
              <a:rPr lang="ru-RU" dirty="0"/>
              <a:t> </a:t>
            </a:r>
          </a:p>
          <a:p>
            <a:r>
              <a:rPr lang="ru-RU" dirty="0"/>
              <a:t>Тот факт, что более дорогой канал привлечения привел пользователей с более высокой средней продолжительностью сессий (при условии фильтрации сессий от 5 минут), свидетельствует о лучшем качестве этой аудитории.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466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анализе лояльными считаются пользователи, которые пригласили не менее трёх друзей, и хотя бы один из них зарегистрировался в игре.</a:t>
            </a:r>
          </a:p>
          <a:p>
            <a:r>
              <a:rPr lang="ru-RU" dirty="0"/>
              <a:t>В августе 2022 года показатель вырос с 77 до 148 пользователей, а к февралю 2023 года достиг 250.</a:t>
            </a:r>
          </a:p>
          <a:p>
            <a:r>
              <a:rPr lang="ru-RU" b="1" dirty="0"/>
              <a:t>В марте произошёл резкий скачок до 532 пользователей — рост на 112,8% за месяц.</a:t>
            </a:r>
            <a:r>
              <a:rPr lang="ru-RU" dirty="0"/>
              <a:t> Возможной причиной могла стать маркетинговая акция, однако для подтверждения нужны дополнительные данные.</a:t>
            </a:r>
          </a:p>
          <a:p>
            <a:r>
              <a:rPr lang="ru-RU" dirty="0"/>
              <a:t>В апреле показатель снизился до 341 пользователя, на 35,9% относительно марта, но остался значительно выше уровня 2022 года.</a:t>
            </a:r>
          </a:p>
          <a:p>
            <a:r>
              <a:rPr lang="ru-RU" b="1" dirty="0"/>
              <a:t>Главный вывод:</a:t>
            </a:r>
            <a:r>
              <a:rPr lang="ru-RU" dirty="0"/>
              <a:t> приглашения друзей могут быть важным каналом органического роста. Необходимо выяснить причины мартовского всплеска, а также проверить, продолжают ли приглашённые игроки играть и приносить выручку. Это позволит оценить реальную эффективность механики привлечения.</a:t>
            </a:r>
          </a:p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B7A3F-6A43-4E60-B462-9A113D12D9E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217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EB8D3-D3C9-2C67-F3D3-668DDA8F8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FA4E7F-E779-3A53-1B35-83283CB28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14CA56-DC0A-70C1-D6F7-58BF7120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5C0699-8063-8044-CB2E-600D42352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B099BD-EA24-C202-4646-0E673B46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063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5428D-FE6E-CCEF-3E27-C6C9667A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75244E-A8AE-73EF-418C-B31320F0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FFFAAE-A9FA-C0BA-50E1-B137E6B0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80F418-925E-D53A-B3A1-1775A62E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989B2-8F4C-5D27-D675-22EC260F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91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278B1-1B6C-EDD6-8FCD-6A74FA7B1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339444-65F2-536E-EC1E-7406CC3B0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CF7823-C845-9A2C-B8EB-8FEDFB50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8B5849-FE55-734B-8BC4-D09139881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38C248-9241-EA26-31F9-46DD4B81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3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EB850-FA1E-CCD8-1F0C-C893F379C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B9B191-B3F0-46DC-9BCD-B8C51AAF2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3AE71F-0157-B357-72BB-9AF3925BC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5CDE38-181B-EB25-E2A9-1E1D01E9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0F9499-9CA2-8846-3960-EE5E8EA6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A68504-5FDC-D596-F372-1093F4C41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5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BFE8E-BD57-A09D-6E19-1CAD463F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E0F060-3F8D-2889-AB8E-EDCEB2744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32F3A2-B0FC-444B-89EF-5956C9A73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01D87A4-CFE1-AAC6-EF26-836E1EBC4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6E08B96-5D10-2EDE-6948-CE6F959C1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5B8C28-3CCF-F7A8-22C2-5E40A48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99252DB-150B-1FFD-5A6B-1498F124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21756D-0B1D-80E0-9017-0BBFC183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941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1F549-78F5-55B4-2A66-71DF7235B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C7281D-5E92-196A-07EF-BA14A5A5E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C1CF31-ED2B-702C-BFD3-99C61959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0E7E90-B605-F3ED-E6E3-7BAC83C6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56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F3703F-CA3A-2941-98E6-1FC1CE977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D921CFC-E81D-BE66-DCCF-A21A17AA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1B207-58FD-BA83-B8D3-4D98BC88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80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B956F-B26B-50C7-E40B-0661A5FB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B824D0-6EB3-57A0-E96B-9CC2AFA1E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71FAA0-FAC0-1485-7721-72381CDA9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618E4D-A5E9-AEC9-8390-B851A32C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B37C94-0435-58B6-259C-B86976F7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F79CE2-3E5A-85F5-7230-4E924067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41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407662-FE93-D1BE-5D38-A87B567A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8384F72-F9AB-F89F-ED34-9B4875B85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BFBFFE-B6AC-F1BF-EA1F-B9AEE7AFF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846620-CDF2-647D-065D-41D40B4F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DC626F-E52E-5FFE-A525-5B07EE33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7D565C-CF53-A2F8-83A4-A8A0EC1C8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223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78EEB-F874-48CE-EA39-9B2D9562B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D9483D-0DC1-1918-4352-CEE68C575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F7DF49-E390-A273-6B87-248EC4610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47FF63-EB93-4497-4CF9-46DD2BDE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82AF1D-19A1-BB3C-5ED9-DA61BEB9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84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F4ACD26-A946-A2F5-5B1F-BC432EF06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E3955-C4BC-1AD5-DCB9-2A56F56C3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EFA138-8AFF-869C-21B6-BD4D2068C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BB2E1A-DA0A-C85E-571F-35369F6FC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25BBA5-3F83-D12A-F30B-11A83694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86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BC606-4E85-4444-60CF-D85E559CA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3010B5-B2D0-9736-3111-618E8002F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9859B0-12E0-C426-81EB-7CA989EC5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FFC52-FD0F-4363-AE0F-2079354DCCC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BBC7DC-73EA-5722-2FF7-1996B5CEE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172FE0-63F0-12BB-642B-8CB2CE45D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464C2-0DB4-4B8E-8E1B-D6DC38282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51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CB81DF-9106-A58F-16BB-91850FF6B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906" y="2279072"/>
            <a:ext cx="10830187" cy="1340141"/>
          </a:xfrm>
        </p:spPr>
        <p:txBody>
          <a:bodyPr>
            <a:noAutofit/>
          </a:bodyPr>
          <a:lstStyle/>
          <a:p>
            <a:r>
              <a:rPr lang="ru-RU" sz="4000" b="1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Анализ игры </a:t>
            </a:r>
            <a:r>
              <a:rPr lang="ru-RU" sz="4000" b="1" i="0" dirty="0" err="1">
                <a:solidFill>
                  <a:srgbClr val="0F1119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Zombie</a:t>
            </a:r>
            <a:r>
              <a:rPr lang="ru-RU" sz="4000" b="1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Revolution </a:t>
            </a:r>
            <a:br>
              <a:rPr lang="ru-RU" sz="4000" b="1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4000" b="1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ее популярность и монетизация</a:t>
            </a:r>
            <a:endParaRPr lang="ru-RU" sz="4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02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B9FF072-C7DC-9BD8-4854-216C9C0C5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971" y="1650419"/>
            <a:ext cx="10515600" cy="5002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Общие показатели игры: </a:t>
            </a:r>
          </a:p>
          <a:p>
            <a:r>
              <a:rPr lang="ru-RU" sz="16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игроков – 3078 человек</a:t>
            </a:r>
            <a:endParaRPr lang="en-US" sz="1600" b="0" i="0" dirty="0">
              <a:solidFill>
                <a:srgbClr val="0F11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FFFC8AA3-BB5B-6149-C1F6-E92484F0CA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768270"/>
              </p:ext>
            </p:extLst>
          </p:nvPr>
        </p:nvGraphicFramePr>
        <p:xfrm>
          <a:off x="404008" y="2714011"/>
          <a:ext cx="5690763" cy="3078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B0C6E50-DDC7-5A46-DE41-D42325F140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4466435"/>
              </p:ext>
            </p:extLst>
          </p:nvPr>
        </p:nvGraphicFramePr>
        <p:xfrm>
          <a:off x="6025834" y="2714011"/>
          <a:ext cx="5257800" cy="3078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54B1AA2-5CCE-2D2F-4A45-3B04F0DBC39C}"/>
              </a:ext>
            </a:extLst>
          </p:cNvPr>
          <p:cNvSpPr txBox="1"/>
          <p:nvPr/>
        </p:nvSpPr>
        <p:spPr>
          <a:xfrm>
            <a:off x="836971" y="790409"/>
            <a:ext cx="6094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картина игры</a:t>
            </a:r>
          </a:p>
        </p:txBody>
      </p:sp>
    </p:spTree>
    <p:extLst>
      <p:ext uri="{BB962C8B-B14F-4D97-AF65-F5344CB8AC3E}">
        <p14:creationId xmlns:p14="http://schemas.microsoft.com/office/powerpoint/2010/main" val="271618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251F97B-47E8-D765-0D2A-1551013D7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0" y="135657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Всего проанализировано 27 161 сессия.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293D8-A64E-9244-E044-33F7801359FE}"/>
              </a:ext>
            </a:extLst>
          </p:cNvPr>
          <p:cNvSpPr txBox="1"/>
          <p:nvPr/>
        </p:nvSpPr>
        <p:spPr>
          <a:xfrm>
            <a:off x="838199" y="681037"/>
            <a:ext cx="10564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 проблемы: незавершённые сессии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BA4BF1-BE45-849F-685F-704E91BC5D9F}"/>
              </a:ext>
            </a:extLst>
          </p:cNvPr>
          <p:cNvSpPr/>
          <p:nvPr/>
        </p:nvSpPr>
        <p:spPr>
          <a:xfrm>
            <a:off x="1593273" y="1918002"/>
            <a:ext cx="3373581" cy="824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3262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сессии без </a:t>
            </a:r>
            <a:r>
              <a:rPr lang="ru-RU" sz="2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end_session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D7446A-7664-1798-A992-44A69F4F5415}"/>
              </a:ext>
            </a:extLst>
          </p:cNvPr>
          <p:cNvSpPr/>
          <p:nvPr/>
        </p:nvSpPr>
        <p:spPr>
          <a:xfrm>
            <a:off x="6354041" y="1918001"/>
            <a:ext cx="3373581" cy="824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12%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Доля незавершенных сессий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202906-F7F4-DA15-8182-338FE60032A7}"/>
              </a:ext>
            </a:extLst>
          </p:cNvPr>
          <p:cNvSpPr txBox="1"/>
          <p:nvPr/>
        </p:nvSpPr>
        <p:spPr>
          <a:xfrm>
            <a:off x="862444" y="2997996"/>
            <a:ext cx="105640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по платформам</a:t>
            </a:r>
          </a:p>
          <a:p>
            <a:pPr algn="l"/>
            <a:r>
              <a:rPr lang="ru-RU" sz="20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endParaRPr lang="ru-RU" sz="2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19% — проблемных сессий внутри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l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97,61% — доля проблемных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-записей среди всех записей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0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endParaRPr lang="ru-RU" sz="2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0,75% — проблемных сессий внутри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l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2,39% — доля проблемных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-записей среди всех записей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81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877C762-15BA-D67D-D75A-9C1502370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9322"/>
            <a:ext cx="10515600" cy="489764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0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марте 2023 года маркетинг провёл акцию: чем чаще игрок заходил в игру, тем больше получал бесплатных кристаллов. Акция шла </a:t>
            </a:r>
            <a:r>
              <a:rPr lang="ru-RU" sz="2000" b="1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первые 3 недели марта</a:t>
            </a:r>
            <a:r>
              <a:rPr lang="ru-RU" sz="20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2FEE273E-5EE4-9C03-2A5E-B680F39AE4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926520"/>
              </p:ext>
            </p:extLst>
          </p:nvPr>
        </p:nvGraphicFramePr>
        <p:xfrm>
          <a:off x="2474753" y="1952537"/>
          <a:ext cx="6470008" cy="3626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5AC062-8B92-1908-FB13-515B87FF0490}"/>
              </a:ext>
            </a:extLst>
          </p:cNvPr>
          <p:cNvSpPr txBox="1"/>
          <p:nvPr/>
        </p:nvSpPr>
        <p:spPr>
          <a:xfrm>
            <a:off x="838200" y="5424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lang="ru-RU" dirty="0"/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маркетинговой</a:t>
            </a:r>
            <a:r>
              <a:rPr lang="ru-RU" dirty="0"/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акции</a:t>
            </a:r>
          </a:p>
        </p:txBody>
      </p:sp>
    </p:spTree>
    <p:extLst>
      <p:ext uri="{BB962C8B-B14F-4D97-AF65-F5344CB8AC3E}">
        <p14:creationId xmlns:p14="http://schemas.microsoft.com/office/powerpoint/2010/main" val="359578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3448D1F6-A600-1285-B835-5222A9C68F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3164874"/>
              </p:ext>
            </p:extLst>
          </p:nvPr>
        </p:nvGraphicFramePr>
        <p:xfrm>
          <a:off x="2261754" y="1323109"/>
          <a:ext cx="7668491" cy="4786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466F99E-4B87-B243-D27F-CD3E7923B8C9}"/>
              </a:ext>
            </a:extLst>
          </p:cNvPr>
          <p:cNvSpPr txBox="1"/>
          <p:nvPr/>
        </p:nvSpPr>
        <p:spPr>
          <a:xfrm>
            <a:off x="1413165" y="59900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показатели</a:t>
            </a:r>
          </a:p>
        </p:txBody>
      </p:sp>
    </p:spTree>
    <p:extLst>
      <p:ext uri="{BB962C8B-B14F-4D97-AF65-F5344CB8AC3E}">
        <p14:creationId xmlns:p14="http://schemas.microsoft.com/office/powerpoint/2010/main" val="390249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2B944AD-7A51-6D98-C536-4F419F826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2730"/>
            <a:ext cx="10515600" cy="5514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1 января 2023 года мы увеличили стоимость одного кристалла.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CA4CE69B-29FE-C1A5-4380-17265B3720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6633916"/>
              </p:ext>
            </p:extLst>
          </p:nvPr>
        </p:nvGraphicFramePr>
        <p:xfrm>
          <a:off x="1783618" y="1336515"/>
          <a:ext cx="8624763" cy="4840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4635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4E12E177-14CA-54C1-59A3-58C6885D7A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7860168"/>
              </p:ext>
            </p:extLst>
          </p:nvPr>
        </p:nvGraphicFramePr>
        <p:xfrm>
          <a:off x="1500948" y="1243046"/>
          <a:ext cx="9190103" cy="4371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7266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Объект 10">
            <a:extLst>
              <a:ext uri="{FF2B5EF4-FFF2-40B4-BE49-F238E27FC236}">
                <a16:creationId xmlns:a16="http://schemas.microsoft.com/office/drawing/2014/main" id="{933F3D1B-1998-1B51-92F2-F70E64E19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37189"/>
            <a:ext cx="10636045" cy="4339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rgbClr val="0F11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(Приглашений на 1 пользователя) × (Конверсия в регистрацию)</a:t>
            </a:r>
          </a:p>
          <a:p>
            <a:pPr marL="0" indent="0">
              <a:buNone/>
            </a:pP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ru-RU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0,92</a:t>
            </a:r>
          </a:p>
          <a:p>
            <a:pPr marL="0" indent="0">
              <a:buNone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Виральный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рост есть, но он не обеспечивает самоподдерживающегося притока (K &lt; 1). Прогноз будущей когорты —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314,89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пользователей. Это означает, что каждая новая привлеченная группа со временем (за счет приглашений) превратится в 315 человек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01AF1-F9C1-D401-1F5A-FC2C19374080}"/>
              </a:ext>
            </a:extLst>
          </p:cNvPr>
          <p:cNvSpPr txBox="1"/>
          <p:nvPr/>
        </p:nvSpPr>
        <p:spPr>
          <a:xfrm>
            <a:off x="838200" y="980456"/>
            <a:ext cx="6094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K-factor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вирусность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61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EA15D68-A7AC-2381-3F30-F1E75B447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Факт</a:t>
            </a:r>
            <a:r>
              <a:rPr lang="ru-RU" sz="20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В ноябре и декабре 2022 года была опробована альтернативная стратегия привлечения клиентов.</a:t>
            </a: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Проверьте следующую гипотезу:</a:t>
            </a:r>
            <a:r>
              <a:rPr lang="ru-RU" sz="20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ноябре и декабре 2022 года из-за более дорогой и таргетированной рекламы мы приобрели более “лояльных” игроков, которые больше времени посвящают нашей игре.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сравнения: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Игроки, привлеченные в ноябре–декабре 2022 года: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часа 37 минут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Игроки из остальных когорт: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часа 57 минут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Разница составляет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минут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(около +22,5%) в пользу новой группы.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CD616-9D7B-722E-2C79-76425EB971EF}"/>
              </a:ext>
            </a:extLst>
          </p:cNvPr>
          <p:cNvSpPr txBox="1"/>
          <p:nvPr/>
        </p:nvSpPr>
        <p:spPr>
          <a:xfrm>
            <a:off x="838200" y="995205"/>
            <a:ext cx="6094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Новый канал привлечения игроков</a:t>
            </a:r>
          </a:p>
        </p:txBody>
      </p:sp>
    </p:spTree>
    <p:extLst>
      <p:ext uri="{BB962C8B-B14F-4D97-AF65-F5344CB8AC3E}">
        <p14:creationId xmlns:p14="http://schemas.microsoft.com/office/powerpoint/2010/main" val="3058876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2E9369-DCD1-754F-75A9-122696065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3601"/>
            <a:ext cx="10515600" cy="5495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Допустим, </a:t>
            </a:r>
            <a:r>
              <a:rPr lang="ru-RU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“лояльным”</a:t>
            </a:r>
            <a:r>
              <a:rPr lang="ru-RU" sz="20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считается тот пользователь, который пригласил как минимум троих друзей, из которых как минимум один в результате зарегистрировался в нашей игре</a:t>
            </a:r>
            <a:r>
              <a:rPr lang="ru-RU" sz="1800" b="0" i="0" dirty="0">
                <a:solidFill>
                  <a:srgbClr val="0F11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1800" dirty="0">
              <a:solidFill>
                <a:srgbClr val="0F11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69B94874-4995-EE61-FFBB-C92B6653C7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3821014"/>
              </p:ext>
            </p:extLst>
          </p:nvPr>
        </p:nvGraphicFramePr>
        <p:xfrm>
          <a:off x="2759656" y="1806454"/>
          <a:ext cx="6672688" cy="4365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025A5F-B6D4-5CBB-999F-A119FE8F1188}"/>
              </a:ext>
            </a:extLst>
          </p:cNvPr>
          <p:cNvSpPr txBox="1"/>
          <p:nvPr/>
        </p:nvSpPr>
        <p:spPr>
          <a:xfrm>
            <a:off x="907472" y="441286"/>
            <a:ext cx="10446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лояльных пользователей игры</a:t>
            </a:r>
          </a:p>
        </p:txBody>
      </p:sp>
    </p:spTree>
    <p:extLst>
      <p:ext uri="{BB962C8B-B14F-4D97-AF65-F5344CB8AC3E}">
        <p14:creationId xmlns:p14="http://schemas.microsoft.com/office/powerpoint/2010/main" val="5095649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1660</Words>
  <Application>Microsoft Office PowerPoint</Application>
  <PresentationFormat>Широкоэкранный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-apple-system-body</vt:lpstr>
      <vt:lpstr>Aptos</vt:lpstr>
      <vt:lpstr>Aptos Display</vt:lpstr>
      <vt:lpstr>Arial</vt:lpstr>
      <vt:lpstr>StratosSkyeng</vt:lpstr>
      <vt:lpstr>Times New Roman</vt:lpstr>
      <vt:lpstr>YS Text</vt:lpstr>
      <vt:lpstr>Тема Office</vt:lpstr>
      <vt:lpstr>Анализ игры Zombie Revolution  ее популярность и монетизация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8</cp:revision>
  <dcterms:created xsi:type="dcterms:W3CDTF">2026-10-13T07:25:11Z</dcterms:created>
  <dcterms:modified xsi:type="dcterms:W3CDTF">2026-10-20T16:12:40Z</dcterms:modified>
</cp:coreProperties>
</file>